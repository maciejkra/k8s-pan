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47930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JSYSTEMS · DEVOPS TRAINING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571179"/>
            <a:ext cx="1015901" cy="5075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850529"/>
            <a:ext cx="4793081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 Kubernetes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34901" y="3229570"/>
            <a:ext cx="47930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1 — Fundamenty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4210050"/>
            <a:ext cx="4793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Maciej Krajewski · jsystems.pl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68901" y="0"/>
            <a:ext cx="317495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jamicque/Downloads/AI/Maciek/jsystems3/k8s-training-2026/presentation/pptx/html/do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0901" y="1103561"/>
            <a:ext cx="1650950" cy="1183928"/>
          </a:xfrm>
          <a:prstGeom prst="rect">
            <a:avLst/>
          </a:prstGeom>
        </p:spPr>
      </p:pic>
      <p:pic>
        <p:nvPicPr>
          <p:cNvPr id="9" name="Image 1" descr="/Users/jamicque/Downloads/AI/Maciek/jsystems3/k8s-training-2026/presentation/pptx/html/kuberne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51" y="2642890"/>
            <a:ext cx="1396901" cy="1396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dnia 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2000" y="1206401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49301"/>
            <a:ext cx="7620000" cy="2041327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420"/>
              </a:lnSpc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</a:t>
            </a:r>
            <a:pPr algn="l" indent="0" marL="0">
              <a:lnSpc>
                <a:spcPts val="342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obrazy, "co źle?", multistage, hardening</a:t>
            </a:r>
            <a:endParaRPr lang="en-US" sz="1900" dirty="0"/>
          </a:p>
          <a:p>
            <a:pPr algn="l" marL="152400" indent="-152400">
              <a:lnSpc>
                <a:spcPts val="3420"/>
              </a:lnSpc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podstawy:</a:t>
            </a:r>
            <a:pPr algn="l" indent="0" marL="0">
              <a:lnSpc>
                <a:spcPts val="342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Pod, Service, Probes, Deployment</a:t>
            </a:r>
            <a:endParaRPr lang="en-US" sz="1900" dirty="0"/>
          </a:p>
          <a:p>
            <a:pPr algn="l" marL="152400" indent="-152400">
              <a:lnSpc>
                <a:spcPts val="3420"/>
              </a:lnSpc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kubectl:</a:t>
            </a:r>
            <a:pPr algn="l" indent="0" marL="0">
              <a:lnSpc>
                <a:spcPts val="342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kontekst, exec, debug</a:t>
            </a:r>
            <a:endParaRPr lang="en-US" sz="1900" dirty="0"/>
          </a:p>
          <a:p>
            <a:pPr algn="l" marL="152400" indent="-152400">
              <a:lnSpc>
                <a:spcPts val="3420"/>
              </a:lnSpc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Multi-container Pod:</a:t>
            </a:r>
            <a:pPr algn="l" indent="0" marL="0">
              <a:lnSpc>
                <a:spcPts val="342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sidecar pattern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000" y="4216598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929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13 ćwiczeń · 7 bloków × 45 min · 09:00–16:00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7188" y="1450925"/>
            <a:ext cx="825818" cy="8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spcAft>
                <a:spcPts val="600"/>
              </a:spcAft>
              <a:buNone/>
            </a:pPr>
            <a:r>
              <a:rPr lang="en-US" sz="6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254335" y="2339876"/>
            <a:ext cx="2635329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768864" y="3368576"/>
            <a:ext cx="36062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2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Konteneryzacja w 4 godziny.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jest źle z tym Dockerfile?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4922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90476"/>
            <a:ext cx="8001000" cy="2641402"/>
          </a:xfrm>
          <a:prstGeom prst="roundRect">
            <a:avLst>
              <a:gd name="adj" fmla="val 2885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5401" y="13681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alpine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(1)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5401" y="15967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apk add --update nginx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(2)(3)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401" y="18253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rm -rf /var/cache/apk/*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(4)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5401" y="20539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mkdir -p /tmp/nginx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5401" y="25111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nginx.conf /etc/nginx/nginx.conf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5401" y="27397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default.conf /etc/nginx/conf.d/default.conf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401" y="29683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/usr/html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(5)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401" y="31969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./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(6)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401" y="34255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nginx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← (7) kontener UMRZE!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" y="3984278"/>
            <a:ext cx="81610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400" b="1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D1/01:</a:t>
            </a:r>
            <a:pPr algn="l"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znajdź 8-10 problemów. Hint: cache, USER, EXPOSE, HEALTHCHECK, .dockerignore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 — Go binary do scratch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71500" y="8920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07877"/>
            <a:ext cx="3898850" cy="374452"/>
          </a:xfrm>
          <a:prstGeom prst="roundRect">
            <a:avLst>
              <a:gd name="adj" fmla="val 2035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766" y="1209377"/>
            <a:ext cx="36143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Single-stage (~900 MB)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482328"/>
            <a:ext cx="3898850" cy="1408509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4650" y="1634728"/>
            <a:ext cx="356240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golang:1.22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4650" y="1818680"/>
            <a:ext cx="356240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4650" y="2002631"/>
            <a:ext cx="356240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4650" y="2186583"/>
            <a:ext cx="356240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 build -o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4650" y="2370534"/>
            <a:ext cx="356240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cały toolchain w obrazie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4650" y="2554486"/>
            <a:ext cx="356240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["./app"]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73501" y="1107877"/>
            <a:ext cx="3898999" cy="374452"/>
          </a:xfrm>
          <a:prstGeom prst="roundRect">
            <a:avLst>
              <a:gd name="adj" fmla="val 2035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5766" y="1209377"/>
            <a:ext cx="361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(~10 MB)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73501" y="1482328"/>
            <a:ext cx="3898999" cy="1776413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6651" y="1634728"/>
            <a:ext cx="35625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golang:1.22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6651" y="1818680"/>
            <a:ext cx="35625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6651" y="2002631"/>
            <a:ext cx="35625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6651" y="2186583"/>
            <a:ext cx="35625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CGO_ENABLED=0 go build -o 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6651" y="2554486"/>
            <a:ext cx="35625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6651" y="2738438"/>
            <a:ext cx="35625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--from=build /app/app 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6651" y="2922389"/>
            <a:ext cx="356255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["/app"]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65817" y="3385691"/>
            <a:ext cx="11641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~900 MB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65817" y="3709541"/>
            <a:ext cx="11641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13368" y="3385691"/>
            <a:ext cx="171721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MB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13368" y="3709541"/>
            <a:ext cx="17172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(90× mniej)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9794" y="3385691"/>
            <a:ext cx="15722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9794" y="3709541"/>
            <a:ext cx="1572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w OS packages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1500" y="4011067"/>
            <a:ext cx="8161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2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D1/02:</a:t>
            </a:r>
            <a:pPr algn="l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zbuduj oba, porównaj rozmiar i CVE (trivy)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— skan obrazów (demo na żywo)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4922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15926"/>
            <a:ext cx="8001000" cy="1629966"/>
          </a:xfrm>
          <a:prstGeom prst="roundRect">
            <a:avLst>
              <a:gd name="adj" fmla="val 4675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368326"/>
            <a:ext cx="769467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trivy image --severity HIGH,CRITICAL --exit-code 1 vuln-app:v1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1589187"/>
            <a:ext cx="769467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vuln-app:v1 (debian 11.5)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1810048"/>
            <a:ext cx="769467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</a:t>
            </a:r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347 (HIGH: 198, CRITICAL: 149)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030909"/>
            <a:ext cx="769467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CVE-2021-44228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log4j RCE via JNDI lookup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2251770"/>
            <a:ext cx="769467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CVE-2022-22965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spring RCE Spring4Shell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2472630"/>
            <a:ext cx="7694676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$? → </a:t>
            </a:r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 pipeline blocked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" y="2998291"/>
            <a:ext cx="8001000" cy="863203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skanuje: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packages · language deps (npm, pip, go) · misconfig · secrets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CI: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 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blokuje merge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SARIF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 → GitHub code scanning, GitLab security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" y="411539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Demo: zapuścimy skan na obrazie z log4j 2.14 — zobaczymy log4shell w akcji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— Cosign + SBOM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241375"/>
            <a:ext cx="7874198" cy="1726406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72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Cosign</a:t>
            </a:r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(Sigstore) — kryptograficzne podpisywanie obrazów</a:t>
            </a:r>
            <a:endParaRPr lang="en-US" sz="1600" dirty="0"/>
          </a:p>
          <a:p>
            <a:pPr algn="l" marL="139700" indent="-139700">
              <a:lnSpc>
                <a:spcPts val="272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Keyless signing</a:t>
            </a:r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(OIDC) — krótko żyjące cert od GitHub Actions / Google</a:t>
            </a:r>
            <a:endParaRPr lang="en-US" sz="1600" dirty="0"/>
          </a:p>
          <a:p>
            <a:pPr algn="l" marL="139700" indent="-139700">
              <a:lnSpc>
                <a:spcPts val="272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</a:t>
            </a:r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Software Bill of Materials — lista WSZYSTKICH komponentów (CycloneDX)</a:t>
            </a:r>
            <a:endParaRPr lang="en-US" sz="1600" dirty="0"/>
          </a:p>
          <a:p>
            <a:pPr algn="l" marL="139700" indent="-139700">
              <a:lnSpc>
                <a:spcPts val="272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Rekor</a:t>
            </a:r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publiczny transparency log (jak CT dla TLS)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3145482"/>
            <a:ext cx="7874198" cy="1345406"/>
          </a:xfrm>
          <a:prstGeom prst="roundRect">
            <a:avLst>
              <a:gd name="adj" fmla="val 5664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251" y="3323183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cosign sign --key cosign.key myapp:v1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251" y="3570684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trivy image -f cyclonedx -o sbom.json myapp:v1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251" y="3818186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cosign attest --predicate sbom.json --type cyclonedx myapp:v1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251" y="4065687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cosign verify --key cosign.pub myapp:v1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✓ valid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01" y="4643289"/>
            <a:ext cx="80316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Wg agendy: "podpisywanie obrazów (Cosign), SBOM (przegląd)" — sekcja 9, w D4 dyskusja Supply Chain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obrazu — checklist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012775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279475"/>
            <a:ext cx="38603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1644551"/>
            <a:ext cx="3784699" cy="181362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Distroless / Alpine base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Pinowane wersje (nginx:1.27.0)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Multi-stage build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.dockerignore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nonroot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Hadolint (CI lint)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24400" y="1279475"/>
            <a:ext cx="38603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/ K8s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24400" y="1644551"/>
            <a:ext cx="3784699" cy="181362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readOnlyRootFilesystem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capabilities: drop ALL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seccomp: RuntimeDefault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HEALTHCHECK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Trivy scan (D1)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Cosign + admission verify (D4)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635871"/>
            <a:ext cx="7874198" cy="65395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3635871"/>
            <a:ext cx="0" cy="65395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227" y="3762821"/>
            <a:ext cx="76205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depth: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obraz musi być bezpieczny </a:t>
            </a:r>
            <a:pPr algn="l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nawet jeśli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uruchomi się bez SecurityContext klastra → szczegóły w D4/05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7188" y="1450925"/>
            <a:ext cx="825818" cy="8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spcAft>
                <a:spcPts val="600"/>
              </a:spcAft>
              <a:buNone/>
            </a:pPr>
            <a:r>
              <a:rPr lang="en-US" sz="6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☸️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433983" y="2339876"/>
            <a:ext cx="427603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990954" y="3368576"/>
            <a:ext cx="31620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2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Orkiestracja w 4 godziny.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 Kubernetes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012775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54250" y="1304776"/>
            <a:ext cx="5435501" cy="1128713"/>
          </a:xfrm>
          <a:prstGeom prst="roundRect">
            <a:avLst>
              <a:gd name="adj" fmla="val 900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10791" y="1482477"/>
            <a:ext cx="49224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10791" y="1768227"/>
            <a:ext cx="492241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kube-apiserver · etcd</a:t>
            </a:r>
            <a:endParaRPr lang="en-US" sz="1200" dirty="0"/>
          </a:p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 · controller-manager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3739" y="2484239"/>
            <a:ext cx="28205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2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97248" y="2858839"/>
            <a:ext cx="1714351" cy="1171426"/>
          </a:xfrm>
          <a:prstGeom prst="roundRect">
            <a:avLst>
              <a:gd name="adj" fmla="val 6505"/>
            </a:avLst>
          </a:prstGeom>
          <a:solidFill>
            <a:srgbClr val="DBEAFE"/>
          </a:solidFill>
          <a:ln w="19050">
            <a:solidFill>
              <a:srgbClr val="326C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06749" y="3004840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06749" y="3255615"/>
            <a:ext cx="12953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kube-proxy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14750" y="2858839"/>
            <a:ext cx="1714351" cy="1171426"/>
          </a:xfrm>
          <a:prstGeom prst="roundRect">
            <a:avLst>
              <a:gd name="adj" fmla="val 6505"/>
            </a:avLst>
          </a:prstGeom>
          <a:solidFill>
            <a:srgbClr val="DBEAFE"/>
          </a:solidFill>
          <a:ln w="19050">
            <a:solidFill>
              <a:srgbClr val="326C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24251" y="3004840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24251" y="3255615"/>
            <a:ext cx="12953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kube-proxy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32252" y="2858839"/>
            <a:ext cx="1714351" cy="1171426"/>
          </a:xfrm>
          <a:prstGeom prst="roundRect">
            <a:avLst>
              <a:gd name="adj" fmla="val 6505"/>
            </a:avLst>
          </a:prstGeom>
          <a:solidFill>
            <a:srgbClr val="DBEAFE"/>
          </a:solidFill>
          <a:ln w="19050">
            <a:solidFill>
              <a:srgbClr val="326C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41752" y="3004840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41752" y="3255615"/>
            <a:ext cx="12953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kube-proxy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— najmniejsza jednostka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241375"/>
            <a:ext cx="7874198" cy="1468041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890"/>
              </a:lnSpc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 kontenerów</a:t>
            </a:r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dzielących sieć (localhost) i wolumeny</a:t>
            </a:r>
            <a:endParaRPr lang="en-US" sz="1700" dirty="0"/>
          </a:p>
          <a:p>
            <a:pPr algn="l" marL="139700" indent="-139700">
              <a:lnSpc>
                <a:spcPts val="2890"/>
              </a:lnSpc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Efemeryczny</a:t>
            </a:r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restart = nowy IP (Service stabilizuje, D1/07)</a:t>
            </a:r>
            <a:endParaRPr lang="en-US" sz="1700" dirty="0"/>
          </a:p>
          <a:p>
            <a:pPr algn="l" marL="139700" indent="-139700">
              <a:lnSpc>
                <a:spcPts val="289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Najmniejsza jednostka </a:t>
            </a:r>
            <a:pPr algn="l"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schedulingu</a:t>
            </a:r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(nie kontener!)</a:t>
            </a:r>
            <a:endParaRPr lang="en-US" sz="1700" dirty="0"/>
          </a:p>
          <a:p>
            <a:pPr algn="l" marL="139700" indent="-139700">
              <a:lnSpc>
                <a:spcPts val="2890"/>
              </a:lnSpc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Multi-container: sidecar, ambassador, adapter, init (D1/12)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4901" y="2887117"/>
            <a:ext cx="7874198" cy="1840409"/>
          </a:xfrm>
          <a:prstGeom prst="roundRect">
            <a:avLst>
              <a:gd name="adj" fmla="val 4140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251" y="3064818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apply -f pod.yaml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251" y="3312319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get pods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251" y="3559820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describe pod myapp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events, 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251" y="3807321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logs -f myapp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follow logs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251" y="4054822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exec -ti myapp -- sh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wejdź do kontenera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251" y="4302323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port-forward myapp 8080:80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DNS w klastrze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1126927"/>
            <a:ext cx="8001000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201" y="1253877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55553" y="1253877"/>
            <a:ext cx="39895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66905" y="1253877"/>
            <a:ext cx="1762452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2265015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745903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77852" y="1745903"/>
            <a:ext cx="39895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wewnątrz klastra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89204" y="1745903"/>
            <a:ext cx="2124962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microservices (default)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2703165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384078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7852" y="2384078"/>
            <a:ext cx="39895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na każdym node (30000–32767)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89204" y="2384078"/>
            <a:ext cx="2124962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test, dev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3341340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2822228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LoadBalancer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7852" y="2822228"/>
            <a:ext cx="39895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LB (cloud / MetalLB)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89204" y="2822228"/>
            <a:ext cx="2124962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produkcja, public-facing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3979515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3460403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ExternalName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77852" y="3460403"/>
            <a:ext cx="39895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alias do external service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9204" y="3460403"/>
            <a:ext cx="2124962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DB poza klastrem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" y="4136678"/>
            <a:ext cx="8001000" cy="622102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95313" y="4136678"/>
            <a:ext cx="0" cy="622102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6826" y="4276279"/>
            <a:ext cx="7749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w klastrze: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service-name.namespace.svc.cluster.local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CoreDNS automatycznie. Pod widzi search domain → wystarczy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service-name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Healthchecks — Liveness, Readiness, Startup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33326"/>
            <a:ext cx="8001000" cy="4887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4650" y="1272927"/>
            <a:ext cx="2227886" cy="20955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58852" y="1272927"/>
            <a:ext cx="4170986" cy="20955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robi gdy fail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8054" y="1272927"/>
            <a:ext cx="1347722" cy="20955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1500" y="240149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825228"/>
            <a:ext cx="2227886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55702" y="1825228"/>
            <a:ext cx="4170986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restartuje kontener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44903" y="1825228"/>
            <a:ext cx="1762149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deadlock, zacięty proces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" y="3134916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558653"/>
            <a:ext cx="2227886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55702" y="2558653"/>
            <a:ext cx="4170986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usuwa Pod ze Service Endpoints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44903" y="2558653"/>
            <a:ext cx="1762149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warming up, lost DB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1500" y="386834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3292078"/>
            <a:ext cx="2227886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55702" y="3292078"/>
            <a:ext cx="4170986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tłumi Liveness/Readiness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44903" y="3292078"/>
            <a:ext cx="1762149" cy="4191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wolne JVM apps (60s+ boot)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" y="4076254"/>
            <a:ext cx="8001000" cy="7620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5313" y="4076254"/>
            <a:ext cx="0" cy="762000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826" y="4228654"/>
            <a:ext cx="77499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Antywzorzec: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Liveness == Readiness na tym samym endpoincie → boot loop. Liveness = </a:t>
            </a:r>
            <a:pPr algn="l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żywotność procesu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Readiness = </a:t>
            </a:r>
            <a:pPr algn="l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gotowość do ruchu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+ rolling update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241375"/>
            <a:ext cx="7874198" cy="1840409"/>
          </a:xfrm>
          <a:prstGeom prst="roundRect">
            <a:avLst>
              <a:gd name="adj" fmla="val 4140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251" y="1419076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251" y="1666577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251" y="1914079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RollingUpdate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251" y="2161580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rollingUpdate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251" y="2409081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maxSurge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dodatkowe Pody w trakcie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251" y="2656582"/>
            <a:ext cx="746180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maxUnavailable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zawsze 100% dostępne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01" y="3259485"/>
            <a:ext cx="7874198" cy="103584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72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pod spodem</a:t>
            </a:r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historia rollback (default 10 wersji)</a:t>
            </a:r>
            <a:endParaRPr lang="en-US" sz="1600" dirty="0"/>
          </a:p>
          <a:p>
            <a:pPr algn="l" marL="139700" indent="-139700">
              <a:lnSpc>
                <a:spcPts val="272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/ history / undo / restart</a:t>
            </a:r>
            <a:endParaRPr lang="en-US" sz="1600" dirty="0"/>
          </a:p>
          <a:p>
            <a:pPr algn="l" marL="139700" indent="-139700">
              <a:lnSpc>
                <a:spcPts val="272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Zmiana template → nowy ReplicaSet, stary skalowany do 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901" y="4396829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Pełne porównanie 6 strategii (Recreate · Rolling · Blue/Green · Canary · A/B · Shadow): D3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Multi-container Pod — 4 wzorce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33326"/>
            <a:ext cx="8001000" cy="428625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201" y="1247626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55553" y="1247626"/>
            <a:ext cx="4507688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robi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74855" y="1247626"/>
            <a:ext cx="124434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224611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727002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77852" y="1727002"/>
            <a:ext cx="4507688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rozszerza funkcjonalność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7154" y="1727002"/>
            <a:ext cx="1606853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shipper, metrics scraper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2884289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365177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7852" y="2365177"/>
            <a:ext cx="4507688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proxy do external 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7154" y="2365177"/>
            <a:ext cx="1606853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proxy, Envoy mesh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352246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3003352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7852" y="3003352"/>
            <a:ext cx="4507688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normalizer dla external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7154" y="3003352"/>
            <a:ext cx="1606853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logs → JSON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4160639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3641527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container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77852" y="3641527"/>
            <a:ext cx="4507688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pre-start setup (sequencing)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7154" y="3641527"/>
            <a:ext cx="1606853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migration, fetch secrets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" y="4317802"/>
            <a:ext cx="8001000" cy="59680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95313" y="4317802"/>
            <a:ext cx="0" cy="59680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6826" y="4444752"/>
            <a:ext cx="7749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sidecar (K8s 1.29+):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initContainers z restartPolicy: Always = sidecar startujący PRZED main, żyjący do końca Poda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 Dnia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012775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279475"/>
            <a:ext cx="7874198" cy="2145953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"co jest źle?" Dockerfile, multi-stage Go → scratch, Trivy demo, Cosign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podstawy: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architektura, Pod, Service + DNS, Probes, Deployment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Zarządzanie: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kubectl context, exec, logs, port-forward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Wzorce: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multi-container Pod (sidecar, ambassador, adapter, init)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4901" y="3603129"/>
            <a:ext cx="7874198" cy="7239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3603129"/>
            <a:ext cx="0" cy="723900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5676" y="3755529"/>
            <a:ext cx="756867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Jutro (D2):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Workloady (Jobs, CronJob, StatefulSet, DaemonSet) · ConfigMap + Secrets · AuthN/AuthZ + RBAC · Gateway API + cert-manager + Let's Encrypt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47930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JSYSTEMS · DEVOPS TRAINING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264444"/>
            <a:ext cx="1015901" cy="5075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543794"/>
            <a:ext cx="4793081" cy="183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Workloady, AuthN, Gateway API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34901" y="3536156"/>
            <a:ext cx="47930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4210050"/>
            <a:ext cx="4793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Maciej Krajewski · jsystems.pl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68901" y="0"/>
            <a:ext cx="317495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jamicque/Downloads/AI/Maciek/jsystems3/k8s-training-2026/presentation/pptx/html/kubern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302" y="870049"/>
            <a:ext cx="1524000" cy="1524000"/>
          </a:xfrm>
          <a:prstGeom prst="rect">
            <a:avLst/>
          </a:prstGeom>
        </p:spPr>
      </p:pic>
      <p:pic>
        <p:nvPicPr>
          <p:cNvPr id="9" name="Image 1" descr="/Users/jamicque/Downloads/AI/Maciek/jsystems3/k8s-training-2026/presentation/pptx/html/gateway-a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302" y="2749451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dnia 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2000" y="1206401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49301"/>
            <a:ext cx="7620000" cy="2196703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Workloady: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Jobs, CronJob, StatefulSet, DaemonSet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emptyDir, hostPath, PV/PVC, StorageClass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ConfigMaps, Secrets (3 typy)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AuthN/AuthZ: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 Token, x509 cert, OIDC + RBAC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Envoy + cert-manager + Let's Encrypt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216598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705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10 ćwiczeń · 7 bloków × 45 min · 09:00–16:00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i CronJob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71426"/>
            <a:ext cx="8001000" cy="91440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jednorazowe zadanie (DB migration, batch processing)</a:t>
            </a:r>
            <a:endParaRPr lang="en-US" sz="1500" dirty="0"/>
          </a:p>
          <a:p>
            <a:pPr algn="l" marL="139700" indent="-1397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CronJob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harmonogram cron → tworzy Job</a:t>
            </a:r>
            <a:endParaRPr lang="en-US" sz="1500" dirty="0"/>
          </a:p>
          <a:p>
            <a:pPr algn="l" marL="139700" indent="-1397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Wzorce paralelizmu: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completions × parallelism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(1.24+)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238226"/>
            <a:ext cx="8001000" cy="1473101"/>
          </a:xfrm>
          <a:prstGeom prst="roundRect">
            <a:avLst>
              <a:gd name="adj" fmla="val 5173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240327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63187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parallelism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równolegle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86047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 łącznie sukcesów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308907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backoffLimit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331767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activeDeadlineSeconds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" y="3863727"/>
            <a:ext cx="8001000" cy="673001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95313" y="3863727"/>
            <a:ext cx="0" cy="673001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990677"/>
            <a:ext cx="774993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Pułapki CronJob: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concurrencyPolicy (Allow/Forbid/Replace) · startingDeadlineSeconds · history limit · łatwo zalewa node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— od emptyDir do StorageClass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001000" cy="428625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201" y="1222177"/>
            <a:ext cx="2305610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Warstwa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09602" y="1222177"/>
            <a:ext cx="39895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20954" y="1222177"/>
            <a:ext cx="1503322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99504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688753"/>
            <a:ext cx="2305610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emptyDir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1902" y="1688753"/>
            <a:ext cx="39895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per Pod (RAM lub disk)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43254" y="1688753"/>
            <a:ext cx="1865831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scratch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2607618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101304"/>
            <a:ext cx="2305610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hostPath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1902" y="2101304"/>
            <a:ext cx="39895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katalog z node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43254" y="2101304"/>
            <a:ext cx="1865831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debug, NIE produkcja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322019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2713881"/>
            <a:ext cx="2305610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1902" y="2713881"/>
            <a:ext cx="39895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klaster-level resource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43254" y="2713881"/>
            <a:ext cx="1865831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pre-provisioning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3632746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3326457"/>
            <a:ext cx="2305610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1902" y="3326457"/>
            <a:ext cx="39895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 o storage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43254" y="3326457"/>
            <a:ext cx="1865831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użycie z Pod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" y="4245322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" y="3739009"/>
            <a:ext cx="2305610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StorageClass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1902" y="3739009"/>
            <a:ext cx="39895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dynamic provisioning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43254" y="3739009"/>
            <a:ext cx="1865831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(EBS, GCE disk, …)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" y="4402485"/>
            <a:ext cx="8001000" cy="59680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95313" y="4402485"/>
            <a:ext cx="0" cy="59680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6826" y="4529435"/>
            <a:ext cx="7749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 Policy: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Retain (manual cleanup, bezpieczne) · Delete (auto, dla ephemeral) · Recycle (DEPRECATED)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— env vars vs mount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3898850" cy="403027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766" y="1247477"/>
            <a:ext cx="36143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 (statyczne)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1500" y="1549003"/>
            <a:ext cx="3898850" cy="1117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65588" y="1549003"/>
            <a:ext cx="0" cy="111740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2661642"/>
            <a:ext cx="38988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263" y="1549003"/>
            <a:ext cx="0" cy="111740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4175" y="1752154"/>
            <a:ext cx="3542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Zmiana CM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wymaga restart Pod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4175" y="2002929"/>
            <a:ext cx="3542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odczytuje raz przy starcie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4175" y="2253704"/>
            <a:ext cx="3542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Proste dla starych aplikacji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73501" y="1145977"/>
            <a:ext cx="3898999" cy="403027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5766" y="1247477"/>
            <a:ext cx="3614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jako pliki (auto)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73501" y="1549003"/>
            <a:ext cx="3898999" cy="1117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567738" y="1549003"/>
            <a:ext cx="0" cy="111740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3501" y="2661642"/>
            <a:ext cx="38989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8263" y="1549003"/>
            <a:ext cx="0" cy="111740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6176" y="1752154"/>
            <a:ext cx="354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~60s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6176" y="2002929"/>
            <a:ext cx="354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musi reagować (inotify)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86176" y="2253704"/>
            <a:ext cx="354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Lepsze dla cloud-native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" y="2844105"/>
            <a:ext cx="8001000" cy="990600"/>
          </a:xfrm>
          <a:prstGeom prst="roundRect">
            <a:avLst>
              <a:gd name="adj" fmla="val 7692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0100" y="29965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create configmap conf --from-file=./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" y="32251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create configmap conf --from-env-file=env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" y="34537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create configmap conf --from-literal=KEY=val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" y="3961656"/>
            <a:ext cx="8001000" cy="40005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5313" y="3961656"/>
            <a:ext cx="0" cy="40005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6826" y="4075956"/>
            <a:ext cx="7749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stakater/Reloader: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auto-restart Deployment przy zmianie CM/Secret (annotation-based)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— 3 typy + Vault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001000" cy="1015901"/>
          </a:xfrm>
          <a:prstGeom prst="roundRect">
            <a:avLst>
              <a:gd name="adj" fmla="val 7501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3110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create secret generic my-app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Opaque (default)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15396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create secret docker-registry registry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imagePullSecrets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17682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create secret tls my-tls --cert= --key=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Gateway/Ingress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314277"/>
            <a:ext cx="8001000" cy="511076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5313" y="2314277"/>
            <a:ext cx="0" cy="511076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41228"/>
            <a:ext cx="77499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K8s Secret = base64, NIE szyfrowane!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etcd encryption at rest to minimum dla produkcji.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2977753"/>
            <a:ext cx="8001000" cy="1147763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D4/04: CSI Driver / env / agent injector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szyfrowane YAML w Git, decrypt przy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Secrets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encrypted Secrets w Git, decrypt przez controller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Secrets Operator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sync z AWS/GCP/Azure secret managers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/ AuthZ —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2800" y="1196876"/>
            <a:ext cx="1108472" cy="555427"/>
          </a:xfrm>
          <a:prstGeom prst="roundRect">
            <a:avLst>
              <a:gd name="adj" fmla="val 13719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1400" y="1374577"/>
            <a:ext cx="6642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27722" y="1196876"/>
            <a:ext cx="952351" cy="555427"/>
          </a:xfrm>
          <a:prstGeom prst="roundRect">
            <a:avLst>
              <a:gd name="adj" fmla="val 137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56322" y="1374577"/>
            <a:ext cx="505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86523" y="1196876"/>
            <a:ext cx="933896" cy="555427"/>
          </a:xfrm>
          <a:prstGeom prst="roundRect">
            <a:avLst>
              <a:gd name="adj" fmla="val 137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5123" y="1374577"/>
            <a:ext cx="4862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26869" y="1196876"/>
            <a:ext cx="1301055" cy="555427"/>
          </a:xfrm>
          <a:prstGeom prst="roundRect">
            <a:avLst>
              <a:gd name="adj" fmla="val 137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55469" y="1374577"/>
            <a:ext cx="860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4374" y="1196876"/>
            <a:ext cx="796677" cy="555427"/>
          </a:xfrm>
          <a:prstGeom prst="roundRect">
            <a:avLst>
              <a:gd name="adj" fmla="val 1371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62974" y="1374577"/>
            <a:ext cx="3462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" y="1980902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AuthN: kim jesteś?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320528"/>
            <a:ext cx="3848100" cy="112216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 Token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in-cluster Pod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x509 Client Cert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admin emergency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human user (SSO)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custom IDP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4400" y="1980902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AuthZ: co możesz?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24400" y="2320528"/>
            <a:ext cx="3848100" cy="112216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(najpopularniejsze) — Role + Binding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ABAC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(legacy)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custom (np. OPA)</a:t>
            </a:r>
            <a:endParaRPr lang="en-US" sz="1300" dirty="0"/>
          </a:p>
          <a:p>
            <a:pPr algn="l" marL="127000" indent="-1270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special dla kubelet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— Role + RoleBinding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001000" cy="2870002"/>
          </a:xfrm>
          <a:prstGeom prst="roundRect">
            <a:avLst>
              <a:gd name="adj" fmla="val 2655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5401" y="12855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rbac.authorization.k8s.io/v1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5401" y="15141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Role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lub ClusterRole (cross-namespace)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5401" y="17427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pod-reader,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prod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401" y="19713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5401" y="21999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apiGroups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5401" y="24285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"pods"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5401" y="26571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"get"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"list"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"watch"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401" y="28857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401" y="31143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RoleBinding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401" y="33429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User,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alice }]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401" y="3571577"/>
            <a:ext cx="7643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roleRef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Role,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pod-reader 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" y="4130278"/>
            <a:ext cx="8001000" cy="453926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5313" y="4130278"/>
            <a:ext cx="0" cy="453926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6826" y="4257229"/>
            <a:ext cx="7749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bez wykonywania: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 — modern Ingress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3898850" cy="403027"/>
          </a:xfrm>
          <a:prstGeom prst="roundRect">
            <a:avLst>
              <a:gd name="adj" fmla="val 18907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7959" y="1247477"/>
            <a:ext cx="3665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(legacy)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1500" y="1549003"/>
            <a:ext cx="3898850" cy="11650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65588" y="1549003"/>
            <a:ext cx="0" cy="11650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2709267"/>
            <a:ext cx="38988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263" y="1549003"/>
            <a:ext cx="0" cy="11650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726" y="1726704"/>
            <a:ext cx="35948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 hell (per controller)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726" y="1936254"/>
            <a:ext cx="35948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HTTP/HTTPS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726" y="2145804"/>
            <a:ext cx="35948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role separation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726" y="2355354"/>
            <a:ext cx="35948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Stagnant od 2020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73501" y="1145977"/>
            <a:ext cx="3898999" cy="403027"/>
          </a:xfrm>
          <a:prstGeom prst="roundRect">
            <a:avLst>
              <a:gd name="adj" fmla="val 1890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9959" y="1247477"/>
            <a:ext cx="36660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 (GA 1.29)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3501" y="1549003"/>
            <a:ext cx="3898999" cy="11650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567738" y="1549003"/>
            <a:ext cx="0" cy="11650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3501" y="2709267"/>
            <a:ext cx="38989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8263" y="1549003"/>
            <a:ext cx="0" cy="11650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0727" y="1726704"/>
            <a:ext cx="3595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Role-oriented: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 / cluster / 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0727" y="1936254"/>
            <a:ext cx="3595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HTTPRoute, TCPRoute, GRPCRoute, TLSRoute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0727" y="2145804"/>
            <a:ext cx="3595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filters (rewrite, mirror, redirect)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0727" y="2355354"/>
            <a:ext cx="3595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(Envoy, NGINX, Cilium, Istio)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14735" y="3018830"/>
            <a:ext cx="1439912" cy="425351"/>
          </a:xfrm>
          <a:prstGeom prst="roundRect">
            <a:avLst>
              <a:gd name="adj" fmla="val 179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417886" y="3145780"/>
            <a:ext cx="10542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GatewayClass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86249" y="3018830"/>
            <a:ext cx="1380232" cy="425351"/>
          </a:xfrm>
          <a:prstGeom prst="roundRect">
            <a:avLst>
              <a:gd name="adj" fmla="val 179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89399" y="3145780"/>
            <a:ext cx="9934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(LB)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8082" y="3018830"/>
            <a:ext cx="1236018" cy="425351"/>
          </a:xfrm>
          <a:prstGeom prst="roundRect">
            <a:avLst>
              <a:gd name="adj" fmla="val 179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01233" y="3145780"/>
            <a:ext cx="846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65702" y="3018830"/>
            <a:ext cx="1363563" cy="425351"/>
          </a:xfrm>
          <a:prstGeom prst="roundRect">
            <a:avLst>
              <a:gd name="adj" fmla="val 179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68852" y="3145780"/>
            <a:ext cx="9764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Pod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" y="3596580"/>
            <a:ext cx="8001000" cy="40005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95313" y="3596580"/>
            <a:ext cx="0" cy="40005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6826" y="3710880"/>
            <a:ext cx="7749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D2/07: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Envoy Gateway + cert-manager + Let's Encrypt staging — automatyczne TLS, HTTP-01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 — bazy w K8s?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001000" cy="428625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201" y="1222177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55553" y="1222177"/>
            <a:ext cx="36009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85905" y="1222177"/>
            <a:ext cx="2151072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StatefulSet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1969740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676102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names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77852" y="1676102"/>
            <a:ext cx="36009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app-7c5d-x9p (random)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08204" y="1676102"/>
            <a:ext cx="2513582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app-0, app-1, app-2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2518916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063353"/>
            <a:ext cx="2046479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7852" y="2063353"/>
            <a:ext cx="3600959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równoległe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08204" y="2063353"/>
            <a:ext cx="2513582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sekwencyjne (czeka na N-1)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3068092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2612529"/>
            <a:ext cx="1883744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18308" y="2612529"/>
            <a:ext cx="3287786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41628" y="2612529"/>
            <a:ext cx="2989490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pod-N.svc.ns.svc.cluster.local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3617268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3161705"/>
            <a:ext cx="2021887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53742" y="3161705"/>
            <a:ext cx="3553748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/ brak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7808" y="3161705"/>
            <a:ext cx="2585386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per-Pod PVC (volumeClaimTemplates)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" y="4166443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" y="3710880"/>
            <a:ext cx="2046479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77852" y="3710880"/>
            <a:ext cx="3600959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losowy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08204" y="3710880"/>
            <a:ext cx="2513582" cy="3619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z najwyższym ordinal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" y="4298156"/>
            <a:ext cx="8001000" cy="6477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95313" y="4298156"/>
            <a:ext cx="0" cy="647700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6826" y="4412456"/>
            <a:ext cx="774993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Bazy w K8s — kontrowersja: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dla małych OK z operatorem (PostgreSQL, MongoDB), dla mission-critical klasy enterprise raczej managed (RDS, Cloud SQL, Atlas)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 — jeden Pod per node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96876"/>
            <a:ext cx="8161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Zawsze jeden Pod na każdym pasującym node — nowy node → automatyczny Pod.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71500" y="1888927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" y="2228552"/>
            <a:ext cx="3848100" cy="15113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collector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Fluent Bit, Promtail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node-exporter, DCGM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Calico, Cilium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Falco (D4/08)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Longhorn, Ceph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24400" y="1888927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Filtrowanie nodów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4400" y="2228552"/>
            <a:ext cx="3848100" cy="90681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nodeSelector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label match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bardziej elastyczne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tolerations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taintowane nody (np. CP)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24400" y="3313063"/>
            <a:ext cx="3848100" cy="990600"/>
          </a:xfrm>
          <a:prstGeom prst="roundRect">
            <a:avLst>
              <a:gd name="adj" fmla="val 7692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53000" y="3465463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nodeSelector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3000" y="3694063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nvidia.com/gpu.present: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3000" y="3922663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tylko GPU nody (D5/04)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 Dnia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012775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279475"/>
            <a:ext cx="7874198" cy="2196703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Workloady: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Jobs/CronJob, StatefulSet (DBs?), DaemonSet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emptyDir → PV/PVC → StorageClass (dynamic)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ConfigMap (env vs mount), Secrets (3 typy + Vault)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AuthN/AuthZ: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 Token, x509 cert, OIDC + RBAC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 + cert-manager + Let's Encrypt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modern Ingress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4901" y="3653879"/>
            <a:ext cx="7874198" cy="93345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3653879"/>
            <a:ext cx="0" cy="933450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5676" y="3806279"/>
            <a:ext cx="756867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Jutro (D3):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 containers · QoS + LimitRange · Metrics Server + HPA · 6 strategii wdrożeń (Canary, Blue/Green, A/B, Shadow) · Scheduling (affinity, taints, TSC) · Priority + preemption · NetworkPolicy · Drain + PDB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47930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JSYSTEMS · DEVOPS TRAINING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304479"/>
            <a:ext cx="1015901" cy="5075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583829"/>
            <a:ext cx="4793081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Autoscaling, Deployment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34901" y="3496270"/>
            <a:ext cx="47930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4210050"/>
            <a:ext cx="4793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Maciej Krajewski · jsystems.pl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68901" y="0"/>
            <a:ext cx="317495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jamicque/Downloads/AI/Maciek/jsystems3/k8s-training-2026/presentation/pptx/html/kubern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302" y="570756"/>
            <a:ext cx="1524000" cy="1524000"/>
          </a:xfrm>
          <a:prstGeom prst="rect">
            <a:avLst/>
          </a:prstGeom>
        </p:spPr>
      </p:pic>
      <p:pic>
        <p:nvPicPr>
          <p:cNvPr id="9" name="Image 1" descr="/Users/jamicque/Downloads/AI/Maciek/jsystems3/k8s-training-2026/presentation/pptx/html/argo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901" y="2450157"/>
            <a:ext cx="1650950" cy="21225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dnia 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2000" y="1511201"/>
            <a:ext cx="7620000" cy="302463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containers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sidecar lifecycle (1.29+)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 classes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ResourceQuota + LimitRange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 + HPA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(CPU + custom metrics)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strategii wdrożeń: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Recreate, Rolling, Blue/Green, Canary, A/B, Shadow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affinity, taints, TSC, PriorityClass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node maintenance (drain + PDB)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4535835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9 ćwiczeń · 7 bloków × 45 min · 09:00–16:00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containers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71426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511052"/>
            <a:ext cx="3848100" cy="90681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Uruchamiane </a:t>
            </a:r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sekwencyjnie przed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musi exit 0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= restart całego Poda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24400" y="1171426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24400" y="1511052"/>
            <a:ext cx="3848100" cy="120908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DB / Service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migration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secrets / config</a:t>
            </a:r>
            <a:endParaRPr lang="en-US" sz="1400" dirty="0"/>
          </a:p>
          <a:p>
            <a:pPr algn="l" marL="127000" indent="-127000">
              <a:lnSpc>
                <a:spcPts val="238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chown / chmod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volumes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2897832"/>
            <a:ext cx="8001000" cy="1447800"/>
          </a:xfrm>
          <a:prstGeom prst="roundRect">
            <a:avLst>
              <a:gd name="adj" fmla="val 5263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3050232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K8s 1.29+ — Native sidecars (initContainers z restartPolicy: Always)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3278832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initContainers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" y="3507432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log-shipper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" y="3736032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restartPolicy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Always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sidecar startujący PRZED main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" y="3964632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fluent/fluent-bit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 classes — kogo OOM-killnąć?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001000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201" y="1272927"/>
            <a:ext cx="243509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36553" y="1272927"/>
            <a:ext cx="2953208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Warunek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1855" y="1272927"/>
            <a:ext cx="241020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OOM-kill priority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210934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1777603"/>
            <a:ext cx="243509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58852" y="1777603"/>
            <a:ext cx="2953208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 == limits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4154" y="1777603"/>
            <a:ext cx="277271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killed last (najwyższa ochrona)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" y="2572792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241054"/>
            <a:ext cx="243509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58852" y="2241054"/>
            <a:ext cx="2953208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 &lt; limits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4154" y="2241054"/>
            <a:ext cx="277271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3036243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2704505"/>
            <a:ext cx="243509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BestEffort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58852" y="2704505"/>
            <a:ext cx="2953208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 requests/limits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4154" y="2704505"/>
            <a:ext cx="277271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killed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" y="3193405"/>
            <a:ext cx="8001000" cy="65395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95313" y="3193405"/>
            <a:ext cx="0" cy="65395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826" y="3320355"/>
            <a:ext cx="77499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Produkcja: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Guaranteed dla critical (DB, payment) · Burstable dla typowego web · BestEffort tylko batch/dev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— Horizontal Pod Autoscaler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001000" cy="2102197"/>
          </a:xfrm>
          <a:prstGeom prst="roundRect">
            <a:avLst>
              <a:gd name="adj" fmla="val 3625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285577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autoscaling/v2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4650" y="1488132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HorizontalPodAutoscaler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4650" y="169068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4650" y="189324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scaleTargetRef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my-app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4650" y="209579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minReplicas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4650" y="229835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maxReplicas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4650" y="250090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4650" y="270346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4650" y="290601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cpu,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averageUtilization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" y="3375124"/>
            <a:ext cx="8001000" cy="106441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Wymóg: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(D3/03)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Scale-up szybki, scale-down wolny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(default 5 min stabilization)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metrics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przez Prometheus Adapter (RPS, queue length)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VPA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vertical (zmienia requests/limits) · 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Karpenter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nody (D5/04)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 wdrożeń — 6 wariantów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001000" cy="428625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201" y="1222177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55553" y="1222177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0905" y="1222177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06257" y="1222177"/>
            <a:ext cx="243631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" y="199504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1688753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77852" y="1688753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3204" y="1688753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28556" y="1688753"/>
            <a:ext cx="279882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trudny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2407593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2101304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7852" y="2101304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3204" y="2101304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28556" y="2101304"/>
            <a:ext cx="279882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wolny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" y="282014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" y="2513856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Blue/Green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77852" y="2513856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3204" y="2513856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28556" y="2513856"/>
            <a:ext cx="279882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natychmiastowy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" y="343272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" y="2926407"/>
            <a:ext cx="204647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77852" y="2926407"/>
            <a:ext cx="165785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3204" y="2926407"/>
            <a:ext cx="1657859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1.x×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28556" y="2926407"/>
            <a:ext cx="2798823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natychmiastowy + auto na metryk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1500" y="3845272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" y="3538984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77852" y="3538984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03204" y="3538984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28556" y="3538984"/>
            <a:ext cx="279882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cohort (cookie)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1500" y="425782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" y="3951536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77852" y="3951536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03204" y="3951536"/>
            <a:ext cx="165785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28556" y="3951536"/>
            <a:ext cx="2798823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(read-only)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1500" y="4414986"/>
            <a:ext cx="8001000" cy="5715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95313" y="4414986"/>
            <a:ext cx="0" cy="57150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6826" y="4529286"/>
            <a:ext cx="7749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 Rollouts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automated Canary z metryk Prometheus + auto-rollback. </a:t>
            </a:r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Flagger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analogicznie z service mesh.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— 3 mechanizmy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001000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201" y="1234827"/>
            <a:ext cx="2819468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Mechanizm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13386" y="1234827"/>
            <a:ext cx="3802404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robi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41232" y="1234827"/>
            <a:ext cx="1176638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Produkcja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2258467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675954"/>
            <a:ext cx="2953208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Node/Pod Affinity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66802" y="1675954"/>
            <a:ext cx="3989579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preferuj / wymagaj lokalizacji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78154" y="1675954"/>
            <a:ext cx="1218233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blisko cache (locality)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" y="2909143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326630"/>
            <a:ext cx="2953208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Taints + Tolerations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66802" y="2326630"/>
            <a:ext cx="3989579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"nie planuj tu bez zgody"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78154" y="2326630"/>
            <a:ext cx="1218233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pool, spot instances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" y="3559820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2977307"/>
            <a:ext cx="2953208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Spread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66802" y="2977307"/>
            <a:ext cx="3989579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rozrzuć po domenach (zone, host)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78154" y="2977307"/>
            <a:ext cx="1218233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multi-zone HA (3 repliki = 3 zone)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" y="4210496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3627983"/>
            <a:ext cx="2953208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PriorityClass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66802" y="3627983"/>
            <a:ext cx="3989579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wywłaszczanie (preemption)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78154" y="3627983"/>
            <a:ext cx="1218233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workload 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" y="4342209"/>
            <a:ext cx="8001000" cy="5715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95313" y="4342209"/>
            <a:ext cx="0" cy="57150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6826" y="4456509"/>
            <a:ext cx="7749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Komplementarne, nie alternatywne.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produkcji kombinacja: GPU node = taint + nodeSelector + priority + TSC dla replikacji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 — default-deny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13097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20973"/>
            <a:ext cx="81610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w K8s: </a:t>
            </a:r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Pody mogą rozmawiać z wszystkimi.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multi-tenant = problem.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749623"/>
            <a:ext cx="8001000" cy="2158901"/>
          </a:xfrm>
          <a:prstGeom prst="roundRect">
            <a:avLst>
              <a:gd name="adj" fmla="val 3530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9146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networking.k8s.io/v1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1432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NetworkPolicy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3718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26004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podSelector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backend }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28290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policyTypes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[Ingress, Egress]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" y="30576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" y="32862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" y="3514874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podSelector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frontend } }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tylko 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" y="4060924"/>
            <a:ext cx="8001000" cy="511076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5313" y="4060924"/>
            <a:ext cx="0" cy="511076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4187875"/>
            <a:ext cx="77499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Wymaga CNI z policy support: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Calico ✓ · Cilium ✓ · Weave ✓ · </a:t>
            </a:r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Flannel default — NIE wspiera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maintenance — drain + PDB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1490" y="1133326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cordon → drain → patch / reboot → uncordon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71500" y="1460302"/>
            <a:ext cx="8001000" cy="1494532"/>
          </a:xfrm>
          <a:prstGeom prst="roundRect">
            <a:avLst>
              <a:gd name="adj" fmla="val 5099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599902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cordon $NODE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nie planuj nowych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4650" y="1802457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drain $NODE \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4650" y="200501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--ignore-daemonsets \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DaemonSet zostaje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4650" y="220756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--delete-emptydir-data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4650" y="241012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patch / reboot / replace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4650" y="261267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uncordon $NODE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" y="3069134"/>
            <a:ext cx="8001000" cy="1291977"/>
          </a:xfrm>
          <a:prstGeom prst="roundRect">
            <a:avLst>
              <a:gd name="adj" fmla="val 5898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50" y="3208734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policy/v1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4650" y="3411289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PodDisruptionBudget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4650" y="3613845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650" y="3816400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minAvailable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"75%"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lub maxUnavailable: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4650" y="4018955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app: critical }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" y="4475411"/>
            <a:ext cx="8001000" cy="40005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5313" y="4475411"/>
            <a:ext cx="0" cy="40005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826" y="4589711"/>
            <a:ext cx="7749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 respektuje PDB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czeka aż ewikcja nie naruszy budżetu. Zero downtime przy patchowaniu floty.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 Dnia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241375"/>
            <a:ext cx="7874198" cy="263604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containers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native sidecars (1.29+)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Guaranteed &gt; Burstable &gt; BestEffort + LimitRange + Quota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autoscaling z metryk (CPU, custom z Prometheus)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strategii wdrożeń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Argo Rollouts dla auto-Canary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Affinity, Taints, TSC, PriorityClass</a:t>
            </a:r>
            <a:endParaRPr lang="en-US" sz="17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default-deny + drain z PDB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4901" y="4055120"/>
            <a:ext cx="7874198" cy="596801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4055120"/>
            <a:ext cx="0" cy="596801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0227" y="4182070"/>
            <a:ext cx="762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Jutro (D4):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pełen stack — PSA · SecurityContext · Vault · kube-bench (CIS) · Trivy Operator (in-cluster CVE) · Falco (runtime) · OPA/Gatekeeper · Service Mesh + Pentesty + Supply chain (przegląd)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47930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JSYSTEMS · DEVOPS TRAINING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517749"/>
            <a:ext cx="1015901" cy="507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797100"/>
            <a:ext cx="4793081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pełen stack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34901" y="3283000"/>
            <a:ext cx="47930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4210050"/>
            <a:ext cx="4793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Maciej Krajewski · jsystems.pl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68901" y="0"/>
            <a:ext cx="317495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214" y="1236762"/>
            <a:ext cx="1428179" cy="183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1000" dirty="0"/>
          </a:p>
        </p:txBody>
      </p:sp>
      <p:pic>
        <p:nvPicPr>
          <p:cNvPr id="9" name="Image 0" descr="/Users/jamicque/Downloads/AI/Maciek/jsystems3/k8s-training-2026/presentation/pptx/html/co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302" y="3354288"/>
            <a:ext cx="152400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7724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dnia 4 — Security pełen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62000" y="1114425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381125"/>
            <a:ext cx="36918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Pod-level hardening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20751"/>
            <a:ext cx="3619500" cy="1575197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Pod (kubectl debug)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Security Admission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Controllers + CEL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2500" y="1381125"/>
            <a:ext cx="36918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security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0" y="1720751"/>
            <a:ext cx="3619500" cy="125253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kube-bench (CIS audit)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Operator (in-cluster CVE)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 (runtime detection)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/ Gatekeeper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2500" y="3125688"/>
            <a:ext cx="36918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 + przegląd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0" y="3465314"/>
            <a:ext cx="3619500" cy="284559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4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· Pentesty · Supply chain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4279999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874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9 ćwiczeń + 3 przeglądy · 7 bloków × 45 min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Security Admission (PSA)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001000" cy="428625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201" y="1222177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55553" y="1222177"/>
            <a:ext cx="5752031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1500" y="2020639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701552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77852" y="1701552"/>
            <a:ext cx="6114541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wszystko (default) — najmniej restrykcyjny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" y="2458789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139702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77852" y="2139702"/>
            <a:ext cx="6114541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restrictions (no host network/PID/IPC, no privileged)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" y="2896939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577852"/>
            <a:ext cx="2046479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7852" y="2577852"/>
            <a:ext cx="6114541" cy="200025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hardened: non-root + drop ALL capabilities + seccomp + read-only FS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" y="3054102"/>
            <a:ext cx="8001000" cy="1697087"/>
          </a:xfrm>
          <a:prstGeom prst="roundRect">
            <a:avLst>
              <a:gd name="adj" fmla="val 4490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4650" y="319370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4650" y="339625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Namespace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4650" y="359881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4650" y="380136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4650" y="400392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pod-security.kubernetes.io/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restricted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wymusza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4650" y="420647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pod-security.kubernetes.io/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restricted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loguje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4650" y="440903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pod-security.kubernetes.io/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restricted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ostrzega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SecurityContext — defense in 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001000" cy="2616101"/>
          </a:xfrm>
          <a:prstGeom prst="roundRect">
            <a:avLst>
              <a:gd name="adj" fmla="val 2913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3110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" y="15396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securityContext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17682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runAsNonRoot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19968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runAsUser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22254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seccompProfile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RuntimeDefault 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24540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" y="26826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securityContext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" y="29112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allowPrivilegeEscalation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setuid escalation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" y="31398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readOnlyRootFilesystem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tmpfs dla /tmp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" y="3368427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"ALL"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minimum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" y="3914477"/>
            <a:ext cx="8001000" cy="65395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5313" y="3914477"/>
            <a:ext cx="0" cy="65395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6826" y="4041428"/>
            <a:ext cx="77499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depth: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 hardening (D1) + SecurityContext (Pod-level) + PSA (namespace-level) + OPA (cluster-level)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 — secrets w produkcji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Secret = base64. </a:t>
            </a:r>
            <a:pPr algn="l"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Produkcja: Vault</a:t>
            </a:r>
            <a:pPr algn="l"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encryption + audit + dynamic secrets + leases.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825377"/>
            <a:ext cx="2548533" cy="2576810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1834902"/>
            <a:ext cx="2529483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6985" y="1961852"/>
            <a:ext cx="221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CSI Driver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726" y="24919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jako 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pliki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726" y="2714179"/>
            <a:ext cx="221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Auto-rotation, encrypted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726" y="3133279"/>
            <a:ext cx="2174081" cy="1106984"/>
          </a:xfrm>
          <a:prstGeom prst="roundRect">
            <a:avLst>
              <a:gd name="adj" fmla="val 4589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6427" y="3260229"/>
            <a:ext cx="18550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6427" y="3473500"/>
            <a:ext cx="1855053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csi: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driver: secrets-store.csi.k8s.io 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7734" y="1825377"/>
            <a:ext cx="2548533" cy="2576810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07259" y="1834902"/>
            <a:ext cx="2529483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63219" y="1961852"/>
            <a:ext cx="221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CSI + env vars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84959" y="24919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+ sync do 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Secret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84959" y="2714179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czyta z env (legacy)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84959" y="2961829"/>
            <a:ext cx="2174081" cy="893713"/>
          </a:xfrm>
          <a:prstGeom prst="roundRect">
            <a:avLst>
              <a:gd name="adj" fmla="val 5684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62660" y="3088779"/>
            <a:ext cx="18550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62660" y="3302050"/>
            <a:ext cx="185505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valueFrom: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secretKeyRef: ... 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23967" y="1825377"/>
            <a:ext cx="2548533" cy="2576810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33492" y="1834902"/>
            <a:ext cx="2529483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452" y="1961852"/>
            <a:ext cx="221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Agent Injector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1193" y="24919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renderujący secrets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1193" y="2714179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Auto-renew leases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1193" y="2961829"/>
            <a:ext cx="2174081" cy="893713"/>
          </a:xfrm>
          <a:prstGeom prst="roundRect">
            <a:avLst>
              <a:gd name="adj" fmla="val 5684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88894" y="3088779"/>
            <a:ext cx="18550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88894" y="3302050"/>
            <a:ext cx="185505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vault.hashicorp.com/agent-inject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kube-bench — CIS K8s Benchmark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 best practices security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dla klastra K8s, automatyzowane jako Job.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561802"/>
            <a:ext cx="8001000" cy="1701701"/>
          </a:xfrm>
          <a:prstGeom prst="roundRect">
            <a:avLst>
              <a:gd name="adj" fmla="val 4478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1726853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apply -f kube-bench-job.yaml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1955453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logs job/kube-bench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184053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1.1.1 API server pod spec permissions 600 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2412653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5.1.5 default ServiceAccounts not actively used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2641253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5.1.6 Service Account Tokens only mounted where necessary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" y="2869853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Summary: 54 PASS, 12 FAIL, 22 WARN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3415903"/>
            <a:ext cx="8001000" cy="105608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Sekcja 1-3: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Plane (apiserver, etcd, scheduler, controller-manager)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Sekcja 4: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Worker Nodes (kubelet, config files)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Sekcja 5: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Policies (RBAC, PSA, NetworkPolicy)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per provider: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EKS, GKE, AKS, RKE2 (osobne benchmarki)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Trivy: D1 (CI) vs D4 (klaster)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3898850" cy="403027"/>
          </a:xfrm>
          <a:prstGeom prst="roundRect">
            <a:avLst>
              <a:gd name="adj" fmla="val 18907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766" y="1247477"/>
            <a:ext cx="36143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trivy CLI w 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1500" y="1549003"/>
            <a:ext cx="3898850" cy="13681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65588" y="1549003"/>
            <a:ext cx="0" cy="13681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2912418"/>
            <a:ext cx="38988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263" y="1549003"/>
            <a:ext cx="0" cy="13681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726" y="1752154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Statyczny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przed deployem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726" y="2002929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Skan obrazu w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726" y="2253704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code → blokuje merge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726" y="2504480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SARIF do GitHub code scanning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73501" y="1145977"/>
            <a:ext cx="3898999" cy="403027"/>
          </a:xfrm>
          <a:prstGeom prst="roundRect">
            <a:avLst>
              <a:gd name="adj" fmla="val 1890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5766" y="1247477"/>
            <a:ext cx="3614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Trivy Operator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3501" y="1549003"/>
            <a:ext cx="3898999" cy="13681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567738" y="1549003"/>
            <a:ext cx="0" cy="13681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3501" y="2912418"/>
            <a:ext cx="38989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8263" y="1549003"/>
            <a:ext cx="0" cy="13681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0727" y="1752154"/>
            <a:ext cx="359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Ciągły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 klastrze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0727" y="2002929"/>
            <a:ext cx="359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Skan running Pods (re-skan co 6h)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0727" y="2253704"/>
            <a:ext cx="359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VulnerabilityReport CRD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0727" y="2504480"/>
            <a:ext cx="359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Wykrywa nowe CVE w starych obrazach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" y="3094881"/>
            <a:ext cx="8001000" cy="990600"/>
          </a:xfrm>
          <a:prstGeom prst="roundRect">
            <a:avLst>
              <a:gd name="adj" fmla="val 7692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0100" y="3247281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install trivy-operator aqua/trivy-operator -n trivy-system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0100" y="3475881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kubectl get vulnerabilityreports,configauditreports,exposedsecretreports -A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" y="3704481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Grafana dashboard 17813 — Trivy reports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 — runtime security (eBPF)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Wykrywa anomalie LIVE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 przeciwieństwie do Trivy/kube-bench (statyczne).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561802"/>
            <a:ext cx="39250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wykrywa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882378"/>
            <a:ext cx="3848100" cy="132010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w produkcyjnym kontenerze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Zapis do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sensitive paths (docker.sock)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Nieoczekiwany egress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 errors (hardware)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24400" y="1561802"/>
            <a:ext cx="39250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24400" y="1882378"/>
            <a:ext cx="3848100" cy="10560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Falcosidekick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Slack, PagerDuty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Elasticsearch, Kafka, Loki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Lambda, GCP Functions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destinacji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" y="3380184"/>
            <a:ext cx="8001000" cy="1061442"/>
          </a:xfrm>
          <a:prstGeom prst="roundRect">
            <a:avLst>
              <a:gd name="adj" fmla="val 7179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4650" y="3519785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Custom — Write to /etc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4650" y="3715345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evt.is_open_write and fd.name startswith /etc/ and container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4650" y="3910905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"Zapis do /etc (user=%user.name file=%fd.name)"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4650" y="4106466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WARNING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/ Gatekeeper — policy as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webhook + </a:t>
            </a:r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 policy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Wymusza policies w runtime — nie ufa dyscyplinie devów.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517452"/>
            <a:ext cx="8001000" cy="2304752"/>
          </a:xfrm>
          <a:prstGeom prst="roundRect">
            <a:avLst>
              <a:gd name="adj" fmla="val 3306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4650" y="1657052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ConstraintTemplate (klasa policy → generuje nowy CRD)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4650" y="1859607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ConstraintTemplate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4650" y="206216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K8sRequiredLabels } } }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4650" y="226471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rego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"violation[...] { missing = required - provided; ... }"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4650" y="266982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Constraint (instancja — Pod musi mieć label 'owner')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4650" y="287238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K8sRequiredLabels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4650" y="307493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4650" y="327749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apiGroups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[Pod] }]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4650" y="348004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"owner"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" y="3949154"/>
            <a:ext cx="8001000" cy="40005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5313" y="3949154"/>
            <a:ext cx="0" cy="40005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6826" y="4063454"/>
            <a:ext cx="7749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Alternatywa Kyverno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YAML zamiast Rego, prostsze. Native dla K8s, popularniejsze w nowych klastrach.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— Istio · Linkerd · Cilium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044476"/>
            <a:ext cx="81610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Tylko teoria — bez warsztatu (zbyt obszerne na D4)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1393627"/>
            <a:ext cx="8001000" cy="628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201" y="1507927"/>
            <a:ext cx="2229404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Cecha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34891" y="1507927"/>
            <a:ext cx="2229252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432" y="1507927"/>
            <a:ext cx="2462727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34870" y="1507927"/>
            <a:ext cx="877127" cy="4000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Cilium SM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" y="289039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136428"/>
            <a:ext cx="2371796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6791" y="2136428"/>
            <a:ext cx="2371645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21932" y="2136428"/>
            <a:ext cx="2623033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linkerd2-proxy (Rust)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93534" y="2136428"/>
            <a:ext cx="794546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+ Envoy L7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" y="3198168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2958554"/>
            <a:ext cx="2346900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Złożoność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72383" y="2958554"/>
            <a:ext cx="234674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73117" y="2958554"/>
            <a:ext cx="259494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17185" y="2958554"/>
            <a:ext cx="872422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" y="384884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3266331"/>
            <a:ext cx="2338703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overhead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64346" y="3266331"/>
            <a:ext cx="2338551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57043" y="3266331"/>
            <a:ext cx="2585689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92033" y="3266331"/>
            <a:ext cx="898077" cy="5143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(in-kernel)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1500" y="467097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" y="3917007"/>
            <a:ext cx="2371948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96939" y="3917007"/>
            <a:ext cx="2371796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bogate funkcje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22230" y="3917007"/>
            <a:ext cx="2623033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prostota, ops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3831" y="3917007"/>
            <a:ext cx="794242" cy="6858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już mam Cilium CNI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" y="4777234"/>
            <a:ext cx="8001000" cy="355402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95313" y="4777234"/>
            <a:ext cx="0" cy="355402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525" y="4878735"/>
            <a:ext cx="78015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 mesh: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50+ microservices · zero-trust · mTLS compliance. </a:t>
            </a:r>
            <a:pPr algn="l"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 NIE: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monolit + 2-3 services · brak platform team.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Pentesty K8s — narzędzia + frameworki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Tylko teoria + linki — pentesty wymagają osobnego środowiska + autoryzacji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590377"/>
            <a:ext cx="39250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Fazy ataku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910953"/>
            <a:ext cx="3848100" cy="140270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kube-hunter, nmap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Pod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 token, Kubelet API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bez NetworkPolicy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mutating webhook, hidden CronJob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24400" y="1590377"/>
            <a:ext cx="39250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24400" y="1910953"/>
            <a:ext cx="3848100" cy="112216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kube-hunter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recon (Aqua)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peirates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interactive pentest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amicontained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"where am I, what can I"</a:t>
            </a:r>
            <a:endParaRPr lang="en-US" sz="1300" dirty="0"/>
          </a:p>
          <a:p>
            <a:pPr algn="l" marL="139700" indent="-139700">
              <a:lnSpc>
                <a:spcPts val="221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kubescape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manifests + cluster + 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" y="3491359"/>
            <a:ext cx="8001000" cy="425351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5313" y="3491359"/>
            <a:ext cx="0" cy="425351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6826" y="3618309"/>
            <a:ext cx="7749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Frameworki: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MITRE ATT&amp;CK for Containers · NSA/CISA K8s Hardening Guide · CIS Benchmark (D4/06)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— od kodu do Poda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652" y="1145977"/>
            <a:ext cx="847874" cy="355402"/>
          </a:xfrm>
          <a:prstGeom prst="roundRect">
            <a:avLst>
              <a:gd name="adj" fmla="val 17867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052" y="1247477"/>
            <a:ext cx="5539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5526" y="1145977"/>
            <a:ext cx="1298228" cy="355402"/>
          </a:xfrm>
          <a:prstGeom prst="roundRect">
            <a:avLst>
              <a:gd name="adj" fmla="val 17867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77926" y="1247477"/>
            <a:ext cx="101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scan (D1)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04754" y="1145977"/>
            <a:ext cx="1681907" cy="355402"/>
          </a:xfrm>
          <a:prstGeom prst="roundRect">
            <a:avLst>
              <a:gd name="adj" fmla="val 1786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154" y="1247477"/>
            <a:ext cx="14046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Cosign sign + SBOM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67660" y="1145977"/>
            <a:ext cx="863650" cy="355402"/>
          </a:xfrm>
          <a:prstGeom prst="roundRect">
            <a:avLst>
              <a:gd name="adj" fmla="val 178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20060" y="1247477"/>
            <a:ext cx="5700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310" y="1145977"/>
            <a:ext cx="1430089" cy="355402"/>
          </a:xfrm>
          <a:prstGeom prst="roundRect">
            <a:avLst>
              <a:gd name="adj" fmla="val 17867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64710" y="1247477"/>
            <a:ext cx="1147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verify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87080" y="1577578"/>
            <a:ext cx="1569690" cy="355402"/>
          </a:xfrm>
          <a:prstGeom prst="roundRect">
            <a:avLst>
              <a:gd name="adj" fmla="val 17867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39480" y="1679079"/>
            <a:ext cx="1290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Operator (D4)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" y="2110680"/>
            <a:ext cx="8001000" cy="679252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5313" y="2110680"/>
            <a:ext cx="0" cy="679252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826" y="2250281"/>
            <a:ext cx="77499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SLSA framework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Supply chain Levels for Software Artifacts (Google). L1: docs · L2: hosted CI · L3: signed provenance · L4: hermetic + 2-party review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" y="2942332"/>
            <a:ext cx="8001000" cy="1056084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Sigstore Policy Controller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admission webhook weryfikujący Cosign signature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Keyless signing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(OIDC) — github.com/myorg/myrepo workflow identity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klastrze — Trivy Operator generuje per VulnerabilityReport</a:t>
            </a:r>
            <a:endParaRPr lang="en-US" sz="1300" dirty="0"/>
          </a:p>
          <a:p>
            <a:pPr algn="l" marL="139700" indent="-139700">
              <a:lnSpc>
                <a:spcPts val="208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Connaisseur, Ratify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alternatywne admission verifiers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 Dnia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241375"/>
            <a:ext cx="7874198" cy="277222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720"/>
              </a:lnSpc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 + SecurityContext</a:t>
            </a:r>
            <a:pPr algn="l" indent="0" marL="0">
              <a:lnSpc>
                <a:spcPts val="272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Pod-level hardening</a:t>
            </a:r>
            <a:endParaRPr lang="en-US" sz="1600" dirty="0"/>
          </a:p>
          <a:p>
            <a:pPr algn="l" marL="152400" indent="-152400">
              <a:lnSpc>
                <a:spcPts val="2720"/>
              </a:lnSpc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pPr algn="l" indent="0" marL="0">
              <a:lnSpc>
                <a:spcPts val="272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production secrets (CSI, env, agent)</a:t>
            </a:r>
            <a:endParaRPr lang="en-US" sz="1600" dirty="0"/>
          </a:p>
          <a:p>
            <a:pPr algn="l" marL="152400" indent="-152400">
              <a:lnSpc>
                <a:spcPts val="2720"/>
              </a:lnSpc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kube-bench</a:t>
            </a:r>
            <a:pPr algn="l" indent="0" marL="0">
              <a:lnSpc>
                <a:spcPts val="272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CIS audit klastra</a:t>
            </a:r>
            <a:endParaRPr lang="en-US" sz="1600" dirty="0"/>
          </a:p>
          <a:p>
            <a:pPr algn="l" marL="152400" indent="-152400">
              <a:lnSpc>
                <a:spcPts val="2720"/>
              </a:lnSpc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Operator</a:t>
            </a:r>
            <a:pPr algn="l" indent="0" marL="0">
              <a:lnSpc>
                <a:spcPts val="272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runtime CVE scan + Grafana dashboard</a:t>
            </a:r>
            <a:endParaRPr lang="en-US" sz="1600" dirty="0"/>
          </a:p>
          <a:p>
            <a:pPr algn="l" marL="152400" indent="-152400">
              <a:lnSpc>
                <a:spcPts val="2720"/>
              </a:lnSpc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</a:t>
            </a:r>
            <a:pPr algn="l" indent="0" marL="0">
              <a:lnSpc>
                <a:spcPts val="272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runtime detection (eBPF) + Falcosidekick</a:t>
            </a:r>
            <a:endParaRPr lang="en-US" sz="1600" dirty="0"/>
          </a:p>
          <a:p>
            <a:pPr algn="l" marL="152400" indent="-152400">
              <a:lnSpc>
                <a:spcPts val="2720"/>
              </a:lnSpc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OPA/Gatekeeper</a:t>
            </a:r>
            <a:pPr algn="l" indent="0" marL="0">
              <a:lnSpc>
                <a:spcPts val="272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policy as code (Rego)</a:t>
            </a:r>
            <a:endParaRPr lang="en-US" sz="1600" dirty="0"/>
          </a:p>
          <a:p>
            <a:pPr algn="l" marL="152400" indent="-152400">
              <a:lnSpc>
                <a:spcPts val="2720"/>
              </a:lnSpc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· Pentesty · Supply Chain</a:t>
            </a:r>
            <a:pPr algn="l" indent="0" marL="0">
              <a:lnSpc>
                <a:spcPts val="272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przegląd + frameworki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4165997"/>
            <a:ext cx="7874198" cy="79355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4165997"/>
            <a:ext cx="0" cy="793552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0227" y="4305598"/>
            <a:ext cx="762059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Jutro (D5):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Helm charts (install + own) · Prometheus + Grafana + Loki · kubeadm walkthrough · AI/GPU na K8s (fake-gpu-operator + MIG + time-slicing) · Kueue + DCGM + production practices · narzędzia developerskie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762000"/>
            <a:ext cx="47930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JSYSTEMS · DEVOPS TRAINING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304479"/>
            <a:ext cx="1015901" cy="5075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583829"/>
            <a:ext cx="4793081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Helm, Monitoring, kubeadm, AI/GPU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34901" y="3496270"/>
            <a:ext cx="47930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4210050"/>
            <a:ext cx="47930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Maciej Krajewski · jsystems.pl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68901" y="0"/>
            <a:ext cx="317495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jamicque/Downloads/AI/Maciek/jsystems3/k8s-training-2026/presentation/pptx/html/he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51" y="938361"/>
            <a:ext cx="1396901" cy="13969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22889" y="2589163"/>
            <a:ext cx="1292162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0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dnia 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62000" y="1206401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49301"/>
            <a:ext cx="7620000" cy="263604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install z repo + tworzenie własnego chartu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Prometheus Operator + Grafana + AlertManager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Loki + Fluent Bit + LogQL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kubeadm: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klaster od zera (3 CP + 3 W + kube-vip + Cilium)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AI/GPU: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fake-gpu-operator, MIG, Time-slicing, Kueue</a:t>
            </a:r>
            <a:endParaRPr lang="en-US" sz="1800" dirty="0"/>
          </a:p>
          <a:p>
            <a:pPr algn="l" marL="152400" indent="-152400">
              <a:lnSpc>
                <a:spcPts val="3060"/>
              </a:lnSpc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Narzędzia:</a:t>
            </a:r>
            <a:pPr algn="l" indent="0" marL="0">
              <a:lnSpc>
                <a:spcPts val="306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kubectx, k9s, Lens, Telepresence (cheatsheet)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216598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6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4 ćwiczenia + 5 przeglądów · 7 bloków × 45 min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— package manager K8s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001000" cy="85367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paczka + templates Go + values.yaml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instancja chartu w klastrze (z imieniem)</a:t>
            </a:r>
            <a:endParaRPr lang="en-US" sz="1400" dirty="0"/>
          </a:p>
          <a:p>
            <a:pPr algn="l" marL="139700" indent="-139700">
              <a:lnSpc>
                <a:spcPts val="2240"/>
              </a:lnSpc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artifacthub.io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"npm dla Helm" (tysiące community charts)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2152055"/>
            <a:ext cx="8001000" cy="1701701"/>
          </a:xfrm>
          <a:prstGeom prst="roundRect">
            <a:avLst>
              <a:gd name="adj" fmla="val 4478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23171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repo add bitnami https://charts.bitnami.com/bitnami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5457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install my-app bitnami/wordpress -f values.yaml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7743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upgrade --install --atomic my-app ./mychart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auto-rollback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30029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rollback my-app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" y="32315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history my-app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" y="3460105"/>
            <a:ext cx="7694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template ./mychart --debug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render bez install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3980706"/>
            <a:ext cx="8001000" cy="42535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5313" y="3980706"/>
            <a:ext cx="0" cy="42535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6826" y="4107656"/>
            <a:ext cx="7749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--atomic w CI: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krytyczne — automatic rollback przy fail. Stan release w Secret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kube-prometheus-stack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Wszystko w jednym Helm chart: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Prometheus Operator + Grafana + AlertManager + node-exporter + kube-state-metrics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761827"/>
            <a:ext cx="2548533" cy="1610023"/>
          </a:xfrm>
          <a:prstGeom prst="roundRect">
            <a:avLst>
              <a:gd name="adj" fmla="val 47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726" y="1923752"/>
            <a:ext cx="22175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Operator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726" y="2234803"/>
            <a:ext cx="2174081" cy="9751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CRD-y: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ServiceMonitor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PrometheusRule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AlertmanagerConfig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PodMonitor, Probe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7734" y="1761827"/>
            <a:ext cx="2548533" cy="1610023"/>
          </a:xfrm>
          <a:prstGeom prst="roundRect">
            <a:avLst>
              <a:gd name="adj" fmla="val 47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84959" y="1923752"/>
            <a:ext cx="22175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84959" y="2234803"/>
            <a:ext cx="2174081" cy="9751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Preinstall'd dashboards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cluster, node, pod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17813 Trivy reports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12239 DCGM (GPU)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23967" y="1761827"/>
            <a:ext cx="2548533" cy="1610023"/>
          </a:xfrm>
          <a:prstGeom prst="roundRect">
            <a:avLst>
              <a:gd name="adj" fmla="val 47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1193" y="1923752"/>
            <a:ext cx="22175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 (logs)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1193" y="2234803"/>
            <a:ext cx="2174081" cy="9751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Promtail / Fluent Bit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LogQL (jak PromQL)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compression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object storage (S3)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" y="3524250"/>
            <a:ext cx="8001000" cy="645021"/>
          </a:xfrm>
          <a:prstGeom prst="roundRect">
            <a:avLst>
              <a:gd name="adj" fmla="val 11814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4650" y="3651200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install monitoring prometheus-community/kube-prometheus-stack -n monitoring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4650" y="3846761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helm install loki grafana/loki-stack -n loki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Prometheus alerts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001000" cy="2912418"/>
          </a:xfrm>
          <a:prstGeom prst="roundRect">
            <a:avLst>
              <a:gd name="adj" fmla="val 2616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4650" y="1247477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monitoring.coreos.com/v1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4650" y="1450032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PrometheusRule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4650" y="165258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4650" y="185514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4650" y="205769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app.alerts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4650" y="226025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4650" y="246280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HighErrorRate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4650" y="266536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4650" y="286791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sum(rate(http_requests_total{status=~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"5.."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}[5m])) &gt;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4650" y="307047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4650" y="327302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650" y="347558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 rate &gt; 5% przez 5 min"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4650" y="367813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runbook_url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"https://runbooks.example.com/high-error"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" y="4147245"/>
            <a:ext cx="8001000" cy="653951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5313" y="4147245"/>
            <a:ext cx="0" cy="65395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826" y="4274195"/>
            <a:ext cx="77499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 → Slack · PagerDuty · Opsgenie · email · webhook.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Routing po severity, deduplication, silencing.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kubeadm — produkcyjny klaster od zera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</a:t>
            </a:r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CP + 3 worker + kube-vip (HA) + Cilium CNI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 VM, ~30 min instalacji.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1479352"/>
            <a:ext cx="8001000" cy="1697087"/>
          </a:xfrm>
          <a:prstGeom prst="roundRect">
            <a:avLst>
              <a:gd name="adj" fmla="val 4490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618952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Pierwszy CP: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4650" y="1821507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kubeadm init --config kubeadm-config.yaml --upload-certs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4650" y="2024062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cilium install --version 1.17.6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4650" y="222661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Reszta CP: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4650" y="242917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kubeadm join ... --control-plane --certificate-key XYZ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4650" y="2631728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Workery: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4650" y="2834283"/>
            <a:ext cx="774659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kubeadm join ...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" y="3303389"/>
            <a:ext cx="8001000" cy="37445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9201" y="3404890"/>
            <a:ext cx="204647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55553" y="3404890"/>
            <a:ext cx="5752031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" y="400630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3779341"/>
            <a:ext cx="204647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kubeadm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77852" y="3779341"/>
            <a:ext cx="6114541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install — pełna kontrola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1500" y="4288780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" y="4061817"/>
            <a:ext cx="204647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77852" y="4061817"/>
            <a:ext cx="6114541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dla AWS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" y="4571256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" y="4344293"/>
            <a:ext cx="204647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kubespray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77852" y="4344293"/>
            <a:ext cx="6114541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playbook (cross-cloud)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1500" y="4853732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" y="4626769"/>
            <a:ext cx="204647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k3s / RKE2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77852" y="4626769"/>
            <a:ext cx="6114541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edge, embedded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" y="5136207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" y="4909245"/>
            <a:ext cx="204647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/ GKE / AKS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77852" y="4909245"/>
            <a:ext cx="6114541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control plane (cloud)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9088" y="1158925"/>
            <a:ext cx="903542" cy="8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0"/>
              </a:lnSpc>
              <a:spcAft>
                <a:spcPts val="600"/>
              </a:spcAft>
              <a:buNone/>
            </a:pPr>
            <a:r>
              <a:rPr lang="en-US" sz="7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1830864" y="2124075"/>
            <a:ext cx="548212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GPU na K8s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578412" y="3095625"/>
            <a:ext cx="598717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2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Najszybciej rosnący segment K8s w 2024-2026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86448" y="3597176"/>
            <a:ext cx="22145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SEKCJA 10 AGENDY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stack na K8s — 4 warstwy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311450" y="1133326"/>
            <a:ext cx="4521101" cy="545902"/>
          </a:xfrm>
          <a:prstGeom prst="roundRect">
            <a:avLst>
              <a:gd name="adj" fmla="val 11632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99411" y="1222177"/>
            <a:ext cx="41451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Pod: nvidia.com/gpu: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99411" y="1447502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aplikacja prosi o GPU jako resource limit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11450" y="2018854"/>
            <a:ext cx="4521101" cy="545902"/>
          </a:xfrm>
          <a:prstGeom prst="roundRect">
            <a:avLst>
              <a:gd name="adj" fmla="val 11632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99411" y="2107704"/>
            <a:ext cx="41451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scheduler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99411" y="2333030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respektuje extended resources, nodeSelector, taints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11450" y="2904381"/>
            <a:ext cx="4521101" cy="545902"/>
          </a:xfrm>
          <a:prstGeom prst="roundRect">
            <a:avLst>
              <a:gd name="adj" fmla="val 116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99411" y="2993231"/>
            <a:ext cx="41451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Device Plugin (DaemonSet)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99411" y="3218557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do kubelet, raportuje liczbę GPU per 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11450" y="3789908"/>
            <a:ext cx="4521101" cy="545902"/>
          </a:xfrm>
          <a:prstGeom prst="roundRect">
            <a:avLst>
              <a:gd name="adj" fmla="val 1163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99411" y="3878759"/>
            <a:ext cx="41451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GPU Operator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99411" y="4104084"/>
            <a:ext cx="4145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orkiestracja: Driver + Toolkit + DCGM + MIG manager + GFD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" y="4437311"/>
            <a:ext cx="8001000" cy="50780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5313" y="4437311"/>
            <a:ext cx="0" cy="507802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525" y="4538811"/>
            <a:ext cx="78015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D5/04: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używamy fake-gpu-operator (Run:AI) — emulacja całego stosu na CPU-only K3d klastrze. Ćwiczenia działają, scheduling i logika OK.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sharing — 3 modele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produkcji </a:t>
            </a:r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GPU może być współdzielone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między wieloma workloadami. Trzy mechanizmy: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507927"/>
            <a:ext cx="2548533" cy="2053828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1517452"/>
            <a:ext cx="2529483" cy="453926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6985" y="1644402"/>
            <a:ext cx="221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Time-slicing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726" y="21490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multiplexing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726" y="235862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fizyczne GPU = N wirtualnych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726" y="25681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1/N czasu kompute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726" y="277772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Wspólna pamięć (walka)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726" y="2987278"/>
            <a:ext cx="2217563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działa wszędzie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726" y="3199954"/>
            <a:ext cx="2217563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izolacji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7734" y="1507927"/>
            <a:ext cx="2548533" cy="2053828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7259" y="1517452"/>
            <a:ext cx="2529483" cy="453926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63219" y="1644402"/>
            <a:ext cx="221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MIG (hardware)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84959" y="21490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partitioning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84959" y="235862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A100 / A30 / H100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84959" y="25681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SMs +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84959" y="277772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1g.5gb, 3g.20gb, 7g.80gb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84959" y="2987278"/>
            <a:ext cx="2217563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izolacja, predictable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84959" y="3199954"/>
            <a:ext cx="2217563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Ampere/Hopper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23967" y="1507927"/>
            <a:ext cx="2548533" cy="2053828"/>
          </a:xfrm>
          <a:prstGeom prst="roundRect">
            <a:avLst>
              <a:gd name="adj" fmla="val 3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33492" y="1517452"/>
            <a:ext cx="2529483" cy="453926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89452" y="1644402"/>
            <a:ext cx="221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MPS (NVIDIA)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1193" y="21490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Multi-Process 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1193" y="235862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processes share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1193" y="256817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overhead niż time-slicing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1193" y="2777728"/>
            <a:ext cx="2217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 MPS daemon na node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1193" y="2987278"/>
            <a:ext cx="2217563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CUDA-optimized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1193" y="3199954"/>
            <a:ext cx="2217563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only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 — Multi-Instance GPU (A100 80GB)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07877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partitioning — </a:t>
            </a:r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A100 = 1 do 7 izolowanych mini-GPU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1500" y="1495127"/>
            <a:ext cx="8001000" cy="4000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201" y="1609427"/>
            <a:ext cx="165785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4553" y="1609427"/>
            <a:ext cx="126923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18905" y="1609427"/>
            <a:ext cx="1528370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02322" y="1609427"/>
            <a:ext cx="1528370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instances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5708" y="1609427"/>
            <a:ext cx="1814673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" y="2420392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009329"/>
            <a:ext cx="1657859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1g.10gb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6852" y="2009329"/>
            <a:ext cx="1269239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1204" y="2009329"/>
            <a:ext cx="1528370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24621" y="2009329"/>
            <a:ext cx="1528370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8007" y="2009329"/>
            <a:ext cx="2177183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małych modeli (BERT, ResNet)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1500" y="2899618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2488555"/>
            <a:ext cx="1657859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2g.20gb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6852" y="2488555"/>
            <a:ext cx="1269239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41204" y="2488555"/>
            <a:ext cx="1528370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GB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24621" y="2488555"/>
            <a:ext cx="1528370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38007" y="2488555"/>
            <a:ext cx="2177183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większych (Llama 7B int8)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1500" y="3207395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" y="2967782"/>
            <a:ext cx="165785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3g.20gb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6852" y="2967782"/>
            <a:ext cx="126923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41204" y="2967782"/>
            <a:ext cx="1528370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GB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24621" y="2967782"/>
            <a:ext cx="1528370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8007" y="2967782"/>
            <a:ext cx="2177183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małych modeli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" y="351517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" y="3275558"/>
            <a:ext cx="165785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4g.40gb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6852" y="3275558"/>
            <a:ext cx="1269239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41204" y="3275558"/>
            <a:ext cx="1528370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GB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24621" y="3275558"/>
            <a:ext cx="1528370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38007" y="3275558"/>
            <a:ext cx="2177183" cy="17145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średnich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" y="3994398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" y="3583335"/>
            <a:ext cx="1657859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7g.80gb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96852" y="3583335"/>
            <a:ext cx="1269239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41204" y="3583335"/>
            <a:ext cx="1528370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GB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24621" y="3583335"/>
            <a:ext cx="1528370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(cały)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38007" y="3583335"/>
            <a:ext cx="2177183" cy="342900"/>
          </a:xfrm>
          <a:prstGeom prst="rect">
            <a:avLst/>
          </a:prstGeom>
          <a:noFill/>
          <a:ln/>
        </p:spPr>
        <p:txBody>
          <a:bodyPr wrap="square" lIns="177800" tIns="0" rIns="17780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od zera, multi-node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71500" y="4151561"/>
            <a:ext cx="8001000" cy="840581"/>
          </a:xfrm>
          <a:prstGeom prst="roundRect">
            <a:avLst>
              <a:gd name="adj" fmla="val 9065"/>
            </a:avLst>
          </a:prstGeom>
          <a:solidFill>
            <a:srgbClr val="1E1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74650" y="4278511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4650" y="4474071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4650" y="4669631"/>
            <a:ext cx="774659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nvidia.com/mig-1g.5gb: 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Kueue + DCGM — production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3898850" cy="2965549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155502"/>
            <a:ext cx="3879800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482" y="1282452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Kueue — job queueing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726" y="1761827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co?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726" y="2038052"/>
            <a:ext cx="3524399" cy="7313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teamy współdzielą 16 GPU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 nie używa → Team B borrowuje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sharing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quota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482" y="2870895"/>
            <a:ext cx="3594887" cy="457200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ResourceFlavor → ClusterQueue → LocalQueue → Workload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726" y="3328095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Integracje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726" y="3604320"/>
            <a:ext cx="3524399" cy="2437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Job, JobSet, MPIJob, RayJob, PyTorchJob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73501" y="1145977"/>
            <a:ext cx="3898999" cy="2965549"/>
          </a:xfrm>
          <a:prstGeom prst="roundRect">
            <a:avLst>
              <a:gd name="adj" fmla="val 25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83026" y="1155502"/>
            <a:ext cx="3879949" cy="453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5481" y="1282452"/>
            <a:ext cx="359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DCGM Exporter — metryki GPU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0727" y="1761827"/>
            <a:ext cx="359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metryki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0727" y="2038052"/>
            <a:ext cx="3524548" cy="150435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DCGM_FI_DEV_GPU_UTIL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% SM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DCGM_FI_DEV_FB_USED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memory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DCGM_FI_DEV_GPU_TEMP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alert &gt;83°C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DCGM_FI_PROF_PIPE_TENSOR_ACTIVE</a:t>
            </a:r>
            <a:endParaRPr lang="en-US" sz="1200" dirty="0"/>
          </a:p>
          <a:p>
            <a:pPr algn="l" marL="114300" indent="-114300">
              <a:lnSpc>
                <a:spcPts val="1920"/>
              </a:lnSpc>
              <a:buSzPct val="100000"/>
              <a:buChar char="•"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DCGM_FI_DEV_ECC_DBE_VOL_TOTAL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ECC errors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0727" y="3643908"/>
            <a:ext cx="359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 12239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production practices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1158776"/>
            <a:ext cx="8001000" cy="2706588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node pool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taint</a:t>
            </a:r>
            <a:endParaRPr lang="en-US" sz="15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instances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70-90% taniej (jeśli checkpointing)</a:t>
            </a:r>
            <a:endParaRPr lang="en-US" sz="15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Karpenter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zamiast Cluster Autoscaler — szybszy provisioning, multi-instance type, spot fallback</a:t>
            </a:r>
            <a:endParaRPr lang="en-US" sz="15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pre-loading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(Spegel) — 5GB pull × 100 nodów = 500GB ruchu</a:t>
            </a:r>
            <a:endParaRPr lang="en-US" sz="15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monitoring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OpenCost / Kubecost (per team chargeback)</a:t>
            </a:r>
            <a:endParaRPr lang="en-US" sz="1500" dirty="0"/>
          </a:p>
          <a:p>
            <a:pPr algn="l" marL="152400" indent="-152400">
              <a:lnSpc>
                <a:spcPts val="27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Time-slicing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dla dev/inference, 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</a:t>
            </a:r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dla produkcji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4017764"/>
            <a:ext cx="8001000" cy="596801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4017764"/>
            <a:ext cx="0" cy="596801"/>
          </a:xfrm>
          <a:prstGeom prst="line">
            <a:avLst/>
          </a:prstGeom>
          <a:noFill/>
          <a:ln w="47625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6826" y="4144714"/>
            <a:ext cx="7749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Kluczowa decyzja: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on-demand vs spot vs reserved? Karpenter automatyzuje ratowanie z spot termination → on-demand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Narzędzia developerskie — cheatsheet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1500" y="93017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45977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Sekcja 11 agendy — bez ćwiczeń, instalacja własna (brew/scoop/apt).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507927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" y="2204740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923752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22450" y="1923752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context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" y="2566690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285702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22450" y="2285702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namespace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" y="2928640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647652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k9s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22450" y="2647652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UI dla K8s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3290590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3009602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22450" y="3009602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multi-pod log tail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" y="3652540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" y="3371552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kube-ps1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2450" y="3371552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z context+namespace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24400" y="1507927"/>
            <a:ext cx="39250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/ dev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24400" y="2204740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4400" y="1923752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75350" y="1923752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GUI multi-cluster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24400" y="2766715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4400" y="2285702"/>
            <a:ext cx="16839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Headlamp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5350" y="2285702"/>
            <a:ext cx="22410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alternatywa Lens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24400" y="3128665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4400" y="2847677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Telepresence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75350" y="2847677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 z proxy do remote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24400" y="3490615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4400" y="3209627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K8s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75350" y="3209627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manifesty, debug, snippets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24400" y="3852565"/>
            <a:ext cx="38481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4400" y="3571577"/>
            <a:ext cx="1683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Headlamp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75350" y="3571577"/>
            <a:ext cx="2241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CNCF, lekki, web-based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 5-dniowego kursu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1500" y="949226"/>
            <a:ext cx="762000" cy="381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90476"/>
            <a:ext cx="8001000" cy="40302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201" y="1291977"/>
            <a:ext cx="1087984" cy="200025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15852" y="1291977"/>
            <a:ext cx="6710526" cy="200025"/>
          </a:xfrm>
          <a:prstGeom prst="rect">
            <a:avLst/>
          </a:prstGeom>
          <a:noFill/>
          <a:ln/>
        </p:spPr>
        <p:txBody>
          <a:bodyPr wrap="square" lIns="0" tIns="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Tematy główne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" y="2026741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733104"/>
            <a:ext cx="1087984" cy="200025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38151" y="1733104"/>
            <a:ext cx="7073036" cy="200025"/>
          </a:xfrm>
          <a:prstGeom prst="rect">
            <a:avLst/>
          </a:prstGeom>
          <a:noFill/>
          <a:ln/>
        </p:spPr>
        <p:txBody>
          <a:bodyPr wrap="square" lIns="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(bad Dockerfile + multi-stage) + K8s podstawy (Pod, Service, Probes, Deployment)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" y="2413992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120354"/>
            <a:ext cx="1087984" cy="200025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38151" y="2120354"/>
            <a:ext cx="7073036" cy="200025"/>
          </a:xfrm>
          <a:prstGeom prst="rect">
            <a:avLst/>
          </a:prstGeom>
          <a:noFill/>
          <a:ln/>
        </p:spPr>
        <p:txBody>
          <a:bodyPr wrap="square" lIns="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Workloady, Storage, ConfigMap+Secrets, AuthN/AuthZ, 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2801243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" y="2507605"/>
            <a:ext cx="1087984" cy="200025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38151" y="2507605"/>
            <a:ext cx="7073036" cy="200025"/>
          </a:xfrm>
          <a:prstGeom prst="rect">
            <a:avLst/>
          </a:prstGeom>
          <a:noFill/>
          <a:ln/>
        </p:spPr>
        <p:txBody>
          <a:bodyPr wrap="square" lIns="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QoS, HPA, 6 strategii wdrożeń, scheduling, NetworkPolicy, drain+PDB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3188494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2894856"/>
            <a:ext cx="1087984" cy="200025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38151" y="2894856"/>
            <a:ext cx="7073036" cy="200025"/>
          </a:xfrm>
          <a:prstGeom prst="rect">
            <a:avLst/>
          </a:prstGeom>
          <a:noFill/>
          <a:ln/>
        </p:spPr>
        <p:txBody>
          <a:bodyPr wrap="square" lIns="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pełen stack: PSA, Vault, kube-bench, Trivy Op, Falco, OPA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3575745"/>
            <a:ext cx="8001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3282107"/>
            <a:ext cx="1087984" cy="200025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38151" y="3282107"/>
            <a:ext cx="7073036" cy="200025"/>
          </a:xfrm>
          <a:prstGeom prst="rect">
            <a:avLst/>
          </a:prstGeom>
          <a:noFill/>
          <a:ln/>
        </p:spPr>
        <p:txBody>
          <a:bodyPr wrap="square" lIns="0" tIns="0" rIns="17780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Helm, Prometheus+Loki, kubeadm, </a:t>
            </a:r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AI/GPU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(fake-gpu, MIG, time-slicing)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490" y="3758208"/>
            <a:ext cx="816102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2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Dziękuję! 🎉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jsystems.pl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i Kubernetes — szkolenie</dc:title>
  <dc:subject>PptxGenJS Presentation</dc:subject>
  <dc:creator>Maciej Krajewski</dc:creator>
  <cp:lastModifiedBy>Maciej Krajewski</cp:lastModifiedBy>
  <cp:revision>1</cp:revision>
  <dcterms:created xsi:type="dcterms:W3CDTF">2026-04-19T21:25:39Z</dcterms:created>
  <dcterms:modified xsi:type="dcterms:W3CDTF">2026-04-19T21:25:39Z</dcterms:modified>
</cp:coreProperties>
</file>